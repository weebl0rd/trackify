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Futura Bold" charset="1" panose="020B0702020204020203"/>
      <p:regular r:id="rId14"/>
    </p:embeddedFont>
    <p:embeddedFont>
      <p:font typeface="Montserrat" charset="1" panose="00000500000000000000"/>
      <p:regular r:id="rId15"/>
    </p:embeddedFont>
    <p:embeddedFont>
      <p:font typeface="Montserrat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946" y="2183216"/>
            <a:ext cx="18086107" cy="511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57"/>
              </a:lnSpc>
            </a:pPr>
            <a:r>
              <a:rPr lang="en-US" b="true" sz="31212" spc="4432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Trackify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63491" y="2725003"/>
            <a:ext cx="9161018" cy="399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4"/>
              </a:lnSpc>
            </a:pPr>
            <a:r>
              <a:rPr lang="en-US" sz="20989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Trackify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2849" y="6241143"/>
            <a:ext cx="6304751" cy="52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TRAZABILIDAD PÚBLICA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-5400000">
            <a:off x="11326231" y="4125331"/>
            <a:ext cx="10287000" cy="203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12"/>
              </a:lnSpc>
            </a:pPr>
            <a:r>
              <a:rPr lang="en-US" b="true" sz="14497" spc="2319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problema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6499478" y="1028700"/>
            <a:ext cx="759822" cy="750151"/>
          </a:xfrm>
          <a:custGeom>
            <a:avLst/>
            <a:gdLst/>
            <a:ahLst/>
            <a:cxnLst/>
            <a:rect r="r" b="b" t="t" l="l"/>
            <a:pathLst>
              <a:path h="750151" w="759822">
                <a:moveTo>
                  <a:pt x="0" y="750151"/>
                </a:moveTo>
                <a:lnTo>
                  <a:pt x="759822" y="750151"/>
                </a:lnTo>
                <a:lnTo>
                  <a:pt x="759822" y="0"/>
                </a:lnTo>
                <a:lnTo>
                  <a:pt x="0" y="0"/>
                </a:lnTo>
                <a:lnTo>
                  <a:pt x="0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28700" y="8891519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371510" y="0"/>
                </a:moveTo>
                <a:lnTo>
                  <a:pt x="0" y="0"/>
                </a:lnTo>
                <a:lnTo>
                  <a:pt x="0" y="366781"/>
                </a:lnTo>
                <a:lnTo>
                  <a:pt x="371510" y="366781"/>
                </a:lnTo>
                <a:lnTo>
                  <a:pt x="3715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17027" y="1872263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0210" y="1702651"/>
            <a:ext cx="7638987" cy="19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65"/>
              </a:lnSpc>
            </a:pPr>
            <a:r>
              <a:rPr lang="en-US" sz="12325" spc="98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1513" y="4242846"/>
            <a:ext cx="6510689" cy="385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Cómo lo encontramos: 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Alejandro Herrera, encargado de Presupuestos Públic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de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la Contraloría de la República, presentó el problema en Tico Blockchain. El equipo lo contactó ese mismo día. Dos entrevistas después, la fr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se que l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res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to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o: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"Darle trazabilidad a quién se le ha pagado, cuánto se le ha pagado y por qué se le ha pagado es imposible. Es realmente imposible."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28700" y="1028700"/>
            <a:ext cx="759822" cy="750151"/>
          </a:xfrm>
          <a:custGeom>
            <a:avLst/>
            <a:gdLst/>
            <a:ahLst/>
            <a:cxnLst/>
            <a:rect r="r" b="b" t="t" l="l"/>
            <a:pathLst>
              <a:path h="750151" w="759822">
                <a:moveTo>
                  <a:pt x="759822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2" y="0"/>
                </a:lnTo>
                <a:lnTo>
                  <a:pt x="759822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87790" y="8891519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0" y="0"/>
                </a:moveTo>
                <a:lnTo>
                  <a:pt x="371510" y="0"/>
                </a:lnTo>
                <a:lnTo>
                  <a:pt x="37151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81228" y="1028700"/>
            <a:ext cx="12925544" cy="3457583"/>
          </a:xfrm>
          <a:custGeom>
            <a:avLst/>
            <a:gdLst/>
            <a:ahLst/>
            <a:cxnLst/>
            <a:rect r="r" b="b" t="t" l="l"/>
            <a:pathLst>
              <a:path h="3457583" w="12925544">
                <a:moveTo>
                  <a:pt x="0" y="0"/>
                </a:moveTo>
                <a:lnTo>
                  <a:pt x="12925544" y="0"/>
                </a:lnTo>
                <a:lnTo>
                  <a:pt x="12925544" y="3457583"/>
                </a:lnTo>
                <a:lnTo>
                  <a:pt x="0" y="34575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613912"/>
            <a:ext cx="10966375" cy="405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6"/>
              </a:lnSpc>
              <a:spcBef>
                <a:spcPct val="0"/>
              </a:spcBef>
            </a:pPr>
            <a:r>
              <a:rPr lang="en-US" sz="11025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3 sistemas que nunca se hablan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88541" y="5372830"/>
            <a:ext cx="5870759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Un sistema aprueba el presupuesto por partida, otro registra las contrataciones, mientras el pago ocurre en otro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5065995"/>
            <a:ext cx="10674566" cy="384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98"/>
              </a:lnSpc>
            </a:pPr>
            <a:r>
              <a:rPr lang="en-US" b="true" sz="15400" spc="2464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Problema concreto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88541" y="7294428"/>
            <a:ext cx="5870759" cy="13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Una municipalidad puede contratar ₡150M en una partida con ₡100M aprobados y nadie lo detecta hasta que un auditor lo audita, tomando un mínimo de 10 días después.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9878" y="4542232"/>
            <a:ext cx="16308122" cy="574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5"/>
              </a:lnSpc>
            </a:pPr>
            <a:r>
              <a:rPr lang="en-US" b="true" sz="22983" spc="3677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Nuestra solución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30967" y="4885907"/>
            <a:ext cx="8340370" cy="418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13"/>
              </a:lnSpc>
            </a:pPr>
            <a:r>
              <a:rPr lang="en-US" sz="14351" spc="114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Nuestra solución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18179" y="1375201"/>
            <a:ext cx="4400916" cy="279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Trackify es una </a:t>
            </a:r>
            <a:r>
              <a:rPr lang="en-US" b="true" sz="1999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bitácora viva del gasto público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anclada en Stellar. Cada contratación de SICOP se registra como una transacción en un contrato Soroban. El contrato acumula el ejecutado en tiempo real. Las inconsistencias emergen solas.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34957" y="1640170"/>
            <a:ext cx="4400916" cy="314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Es un problema de confianza. Aunque se hiciera un producto que unifique los distintos sistemas, cualquier base de datos centralizada se puede editar. Un contrato Soroban público y auditable por cualquier persona con internet, y </a:t>
            </a:r>
            <a:r>
              <a:rPr lang="en-US" b="true" sz="1999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 justo lo que el gasto público necesita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094413" y="1028700"/>
            <a:ext cx="759822" cy="750151"/>
          </a:xfrm>
          <a:custGeom>
            <a:avLst/>
            <a:gdLst/>
            <a:ahLst/>
            <a:cxnLst/>
            <a:rect r="r" b="b" t="t" l="l"/>
            <a:pathLst>
              <a:path h="750151" w="759822">
                <a:moveTo>
                  <a:pt x="759821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1" y="0"/>
                </a:lnTo>
                <a:lnTo>
                  <a:pt x="759821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87790" y="8891519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0" y="0"/>
                </a:moveTo>
                <a:lnTo>
                  <a:pt x="371510" y="0"/>
                </a:lnTo>
                <a:lnTo>
                  <a:pt x="37151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83039" y="984789"/>
            <a:ext cx="6304751" cy="52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¿POR QUÉ STELLAR?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557923"/>
            <a:ext cx="14544879" cy="441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4"/>
              </a:lnSpc>
            </a:pPr>
            <a:r>
              <a:rPr lang="en-US" sz="31557" spc="5049" b="true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Demo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5143500"/>
            <a:ext cx="9144000" cy="5143500"/>
            <a:chOff x="0" y="0"/>
            <a:chExt cx="2408296" cy="1354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1354667"/>
            </a:xfrm>
            <a:custGeom>
              <a:avLst/>
              <a:gdLst/>
              <a:ahLst/>
              <a:cxnLst/>
              <a:rect r="r" b="b" t="t" l="l"/>
              <a:pathLst>
                <a:path h="135466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408296" cy="1383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86929" y="1156661"/>
            <a:ext cx="4970142" cy="235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5"/>
              </a:lnSpc>
              <a:spcBef>
                <a:spcPct val="0"/>
              </a:spcBef>
            </a:pPr>
            <a:r>
              <a:rPr lang="en-US" b="true" sz="12325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Demo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0" y="0"/>
            <a:ext cx="9144000" cy="5143500"/>
            <a:chOff x="0" y="0"/>
            <a:chExt cx="2408296" cy="1354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8296" cy="1354667"/>
            </a:xfrm>
            <a:custGeom>
              <a:avLst/>
              <a:gdLst/>
              <a:ahLst/>
              <a:cxnLst/>
              <a:rect r="r" b="b" t="t" l="l"/>
              <a:pathLst>
                <a:path h="135466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C8BC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408296" cy="1383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2086929" y="3143808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371510" y="0"/>
                </a:moveTo>
                <a:lnTo>
                  <a:pt x="0" y="0"/>
                </a:lnTo>
                <a:lnTo>
                  <a:pt x="0" y="366781"/>
                </a:lnTo>
                <a:lnTo>
                  <a:pt x="371510" y="366781"/>
                </a:lnTo>
                <a:lnTo>
                  <a:pt x="3715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68645" y="6831012"/>
            <a:ext cx="5606710" cy="209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 en React que lee el estado del contrato en vivo vía RPC. Cada registro nuevo aparece en la tabla. El semáforo cambia de verde a rojo cuando el ejecutado supera el aprobado. Cada fila tiene link directo a Stellar Expert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13957" y="1335087"/>
            <a:ext cx="5404086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Contrato S</a:t>
            </a:r>
            <a:r>
              <a:rPr lang="en-US" sz="19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lang="en-US" sz="19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oban</a:t>
            </a:r>
            <a:r>
              <a:rPr lang="en-US" sz="19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desplegado en Stellar Testnet con tres funciones: inicializar el presupuesto aprobado desde datos reales del SIPP, registrar cada contratación como una invocación con metadata estructurada, y consultar el estado acumulado por partida.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256227"/>
            <a:ext cx="18288000" cy="4030773"/>
          </a:xfrm>
          <a:custGeom>
            <a:avLst/>
            <a:gdLst/>
            <a:ahLst/>
            <a:cxnLst/>
            <a:rect r="r" b="b" t="t" l="l"/>
            <a:pathLst>
              <a:path h="4030773" w="18288000">
                <a:moveTo>
                  <a:pt x="0" y="0"/>
                </a:moveTo>
                <a:lnTo>
                  <a:pt x="18288000" y="0"/>
                </a:lnTo>
                <a:lnTo>
                  <a:pt x="18288000" y="4030773"/>
                </a:lnTo>
                <a:lnTo>
                  <a:pt x="0" y="40307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-187691" r="0" b="-14592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028700" y="1054047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371510" y="366781"/>
                </a:moveTo>
                <a:lnTo>
                  <a:pt x="0" y="366781"/>
                </a:lnTo>
                <a:lnTo>
                  <a:pt x="0" y="0"/>
                </a:lnTo>
                <a:lnTo>
                  <a:pt x="371510" y="0"/>
                </a:lnTo>
                <a:lnTo>
                  <a:pt x="371510" y="36678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99478" y="8508149"/>
            <a:ext cx="759822" cy="750151"/>
          </a:xfrm>
          <a:custGeom>
            <a:avLst/>
            <a:gdLst/>
            <a:ahLst/>
            <a:cxnLst/>
            <a:rect r="r" b="b" t="t" l="l"/>
            <a:pathLst>
              <a:path h="750151" w="759822">
                <a:moveTo>
                  <a:pt x="0" y="0"/>
                </a:moveTo>
                <a:lnTo>
                  <a:pt x="759822" y="0"/>
                </a:lnTo>
                <a:lnTo>
                  <a:pt x="759822" y="750151"/>
                </a:lnTo>
                <a:lnTo>
                  <a:pt x="0" y="75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1660" y="-1343"/>
            <a:ext cx="7306471" cy="647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60"/>
              </a:lnSpc>
            </a:pPr>
            <a:r>
              <a:rPr lang="en-US" sz="18000" spc="2879" b="true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Oportunidades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232" y="2906159"/>
            <a:ext cx="7930522" cy="149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5"/>
              </a:lnSpc>
            </a:pPr>
            <a:r>
              <a:rPr lang="en-US" sz="9477" spc="75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Oportunidades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8150" y="2158179"/>
            <a:ext cx="3453304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Problema validado con tres funcionarios de la Contraloría de la República: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Alejandro Herrera 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Nancy Campos 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Eduardo Jarquín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88150" y="1663641"/>
            <a:ext cx="3864905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7C7AA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Validación institucional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06206" y="1663641"/>
            <a:ext cx="1809340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7C7AA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06206" y="2158179"/>
            <a:ext cx="3453304" cy="350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84 municipalidades. 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Más de 300 instituciones del sector descentralizado. 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Todas con presupuestos aprobados por la CGR. Todas con contrataciones en SICOP. Ninguna con trazabilidad end-to-end hoy.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1106" y="3963910"/>
            <a:ext cx="8739108" cy="376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0"/>
              </a:lnSpc>
            </a:pPr>
            <a:r>
              <a:rPr lang="en-US" b="true" sz="15000" spc="2400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Nuestro equipo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6499478" y="1028700"/>
            <a:ext cx="759822" cy="750151"/>
          </a:xfrm>
          <a:custGeom>
            <a:avLst/>
            <a:gdLst/>
            <a:ahLst/>
            <a:cxnLst/>
            <a:rect r="r" b="b" t="t" l="l"/>
            <a:pathLst>
              <a:path h="750151" w="759822">
                <a:moveTo>
                  <a:pt x="0" y="750151"/>
                </a:moveTo>
                <a:lnTo>
                  <a:pt x="759822" y="750151"/>
                </a:lnTo>
                <a:lnTo>
                  <a:pt x="759822" y="0"/>
                </a:lnTo>
                <a:lnTo>
                  <a:pt x="0" y="0"/>
                </a:lnTo>
                <a:lnTo>
                  <a:pt x="0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28700" y="8891519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371510" y="0"/>
                </a:moveTo>
                <a:lnTo>
                  <a:pt x="0" y="0"/>
                </a:lnTo>
                <a:lnTo>
                  <a:pt x="0" y="366781"/>
                </a:lnTo>
                <a:lnTo>
                  <a:pt x="371510" y="366781"/>
                </a:lnTo>
                <a:lnTo>
                  <a:pt x="3715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94288" y="366376"/>
            <a:ext cx="3254330" cy="2325647"/>
            <a:chOff x="0" y="0"/>
            <a:chExt cx="113737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7370" cy="812800"/>
            </a:xfrm>
            <a:custGeom>
              <a:avLst/>
              <a:gdLst/>
              <a:ahLst/>
              <a:cxnLst/>
              <a:rect r="r" b="b" t="t" l="l"/>
              <a:pathLst>
                <a:path h="812800" w="1137370">
                  <a:moveTo>
                    <a:pt x="0" y="0"/>
                  </a:moveTo>
                  <a:lnTo>
                    <a:pt x="1137370" y="0"/>
                  </a:lnTo>
                  <a:lnTo>
                    <a:pt x="113737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>
                <a:alphaModFix amt="80000"/>
              </a:blip>
              <a:stretch>
                <a:fillRect l="0" t="-27198" r="0" b="-1273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48618" y="2706098"/>
            <a:ext cx="3255945" cy="2325647"/>
            <a:chOff x="0" y="0"/>
            <a:chExt cx="1137934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7934" cy="812800"/>
            </a:xfrm>
            <a:custGeom>
              <a:avLst/>
              <a:gdLst/>
              <a:ahLst/>
              <a:cxnLst/>
              <a:rect r="r" b="b" t="t" l="l"/>
              <a:pathLst>
                <a:path h="812800" w="1137934">
                  <a:moveTo>
                    <a:pt x="0" y="0"/>
                  </a:moveTo>
                  <a:lnTo>
                    <a:pt x="1137934" y="0"/>
                  </a:lnTo>
                  <a:lnTo>
                    <a:pt x="113793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>
                <a:alphaModFix amt="80000"/>
              </a:blip>
              <a:stretch>
                <a:fillRect l="0" t="-20000" r="0" b="-2000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94288" y="5017669"/>
            <a:ext cx="3254330" cy="2325647"/>
            <a:chOff x="0" y="0"/>
            <a:chExt cx="113737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7370" cy="812800"/>
            </a:xfrm>
            <a:custGeom>
              <a:avLst/>
              <a:gdLst/>
              <a:ahLst/>
              <a:cxnLst/>
              <a:rect r="r" b="b" t="t" l="l"/>
              <a:pathLst>
                <a:path h="812800" w="1137370">
                  <a:moveTo>
                    <a:pt x="0" y="0"/>
                  </a:moveTo>
                  <a:lnTo>
                    <a:pt x="1137370" y="0"/>
                  </a:lnTo>
                  <a:lnTo>
                    <a:pt x="113737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>
                <a:alphaModFix amt="80000"/>
              </a:blip>
              <a:stretch>
                <a:fillRect l="0" t="-63057" r="0" b="-4697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94288" y="2692022"/>
            <a:ext cx="3254330" cy="2325647"/>
            <a:chOff x="0" y="0"/>
            <a:chExt cx="930614" cy="6650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0614" cy="665046"/>
            </a:xfrm>
            <a:custGeom>
              <a:avLst/>
              <a:gdLst/>
              <a:ahLst/>
              <a:cxnLst/>
              <a:rect r="r" b="b" t="t" l="l"/>
              <a:pathLst>
                <a:path h="665046" w="930614">
                  <a:moveTo>
                    <a:pt x="0" y="0"/>
                  </a:moveTo>
                  <a:lnTo>
                    <a:pt x="930614" y="0"/>
                  </a:lnTo>
                  <a:lnTo>
                    <a:pt x="930614" y="665046"/>
                  </a:lnTo>
                  <a:lnTo>
                    <a:pt x="0" y="665046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30614" cy="693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48618" y="366376"/>
            <a:ext cx="3255945" cy="2325647"/>
            <a:chOff x="0" y="0"/>
            <a:chExt cx="931076" cy="6650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1076" cy="665046"/>
            </a:xfrm>
            <a:custGeom>
              <a:avLst/>
              <a:gdLst/>
              <a:ahLst/>
              <a:cxnLst/>
              <a:rect r="r" b="b" t="t" l="l"/>
              <a:pathLst>
                <a:path h="665046" w="931076">
                  <a:moveTo>
                    <a:pt x="0" y="0"/>
                  </a:moveTo>
                  <a:lnTo>
                    <a:pt x="931076" y="0"/>
                  </a:lnTo>
                  <a:lnTo>
                    <a:pt x="931076" y="665046"/>
                  </a:lnTo>
                  <a:lnTo>
                    <a:pt x="0" y="665046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31076" cy="693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48618" y="5017669"/>
            <a:ext cx="3255945" cy="2325647"/>
            <a:chOff x="0" y="0"/>
            <a:chExt cx="931076" cy="6650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1076" cy="665046"/>
            </a:xfrm>
            <a:custGeom>
              <a:avLst/>
              <a:gdLst/>
              <a:ahLst/>
              <a:cxnLst/>
              <a:rect r="r" b="b" t="t" l="l"/>
              <a:pathLst>
                <a:path h="665046" w="931076">
                  <a:moveTo>
                    <a:pt x="0" y="0"/>
                  </a:moveTo>
                  <a:lnTo>
                    <a:pt x="931076" y="0"/>
                  </a:lnTo>
                  <a:lnTo>
                    <a:pt x="931076" y="665046"/>
                  </a:lnTo>
                  <a:lnTo>
                    <a:pt x="0" y="665046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931076" cy="693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948618" y="7373541"/>
            <a:ext cx="3255945" cy="2325647"/>
            <a:chOff x="0" y="0"/>
            <a:chExt cx="1137934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7934" cy="812800"/>
            </a:xfrm>
            <a:custGeom>
              <a:avLst/>
              <a:gdLst/>
              <a:ahLst/>
              <a:cxnLst/>
              <a:rect r="r" b="b" t="t" l="l"/>
              <a:pathLst>
                <a:path h="812800" w="1137934">
                  <a:moveTo>
                    <a:pt x="0" y="0"/>
                  </a:moveTo>
                  <a:lnTo>
                    <a:pt x="1137934" y="0"/>
                  </a:lnTo>
                  <a:lnTo>
                    <a:pt x="113793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>
                <a:alphaModFix amt="80000"/>
              </a:blip>
              <a:stretch>
                <a:fillRect l="-3604" t="0" r="-360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94288" y="7359466"/>
            <a:ext cx="3254330" cy="2325647"/>
            <a:chOff x="0" y="0"/>
            <a:chExt cx="930614" cy="6650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0614" cy="665046"/>
            </a:xfrm>
            <a:custGeom>
              <a:avLst/>
              <a:gdLst/>
              <a:ahLst/>
              <a:cxnLst/>
              <a:rect r="r" b="b" t="t" l="l"/>
              <a:pathLst>
                <a:path h="665046" w="930614">
                  <a:moveTo>
                    <a:pt x="0" y="0"/>
                  </a:moveTo>
                  <a:lnTo>
                    <a:pt x="930614" y="0"/>
                  </a:lnTo>
                  <a:lnTo>
                    <a:pt x="930614" y="665046"/>
                  </a:lnTo>
                  <a:lnTo>
                    <a:pt x="0" y="665046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30614" cy="693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12272" y="2213803"/>
            <a:ext cx="7412568" cy="488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41"/>
              </a:lnSpc>
            </a:pPr>
            <a:r>
              <a:rPr lang="en-US" sz="16737" spc="133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Nuestro equipo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71324" y="1078827"/>
            <a:ext cx="3210533" cy="4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</a:pPr>
            <a:r>
              <a:rPr lang="en-US" b="true" sz="276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Efraim Cuevas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80854" y="1603296"/>
            <a:ext cx="2191474" cy="2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3"/>
              </a:lnSpc>
            </a:pPr>
            <a:r>
              <a:rPr lang="en-US" sz="14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Founder/Developer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37929" y="3457073"/>
            <a:ext cx="3310689" cy="41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b="true" sz="236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Francisco Jiménez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63354" y="3981542"/>
            <a:ext cx="2259839" cy="2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3"/>
              </a:lnSpc>
            </a:pPr>
            <a:r>
              <a:rPr lang="en-US" sz="14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Founder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71324" y="5752567"/>
            <a:ext cx="3210533" cy="4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8"/>
              </a:lnSpc>
            </a:pPr>
            <a:r>
              <a:rPr lang="en-US" b="true" sz="256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Sebastián Berrios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80854" y="6267510"/>
            <a:ext cx="2191474" cy="2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3"/>
              </a:lnSpc>
            </a:pPr>
            <a:r>
              <a:rPr lang="en-US" sz="14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37929" y="8075318"/>
            <a:ext cx="3310689" cy="4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</a:pPr>
            <a:r>
              <a:rPr lang="en-US" b="true" sz="276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David Acuña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63354" y="8599787"/>
            <a:ext cx="2259839" cy="2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3"/>
              </a:lnSpc>
            </a:pPr>
            <a:r>
              <a:rPr lang="en-US" sz="14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499478" y="1028700"/>
            <a:ext cx="759822" cy="750151"/>
          </a:xfrm>
          <a:custGeom>
            <a:avLst/>
            <a:gdLst/>
            <a:ahLst/>
            <a:cxnLst/>
            <a:rect r="r" b="b" t="t" l="l"/>
            <a:pathLst>
              <a:path h="750151" w="759822">
                <a:moveTo>
                  <a:pt x="0" y="750151"/>
                </a:moveTo>
                <a:lnTo>
                  <a:pt x="759822" y="750151"/>
                </a:lnTo>
                <a:lnTo>
                  <a:pt x="759822" y="0"/>
                </a:lnTo>
                <a:lnTo>
                  <a:pt x="0" y="0"/>
                </a:lnTo>
                <a:lnTo>
                  <a:pt x="0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8891519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371510" y="0"/>
                </a:moveTo>
                <a:lnTo>
                  <a:pt x="0" y="0"/>
                </a:lnTo>
                <a:lnTo>
                  <a:pt x="0" y="366781"/>
                </a:lnTo>
                <a:lnTo>
                  <a:pt x="371510" y="366781"/>
                </a:lnTo>
                <a:lnTo>
                  <a:pt x="3715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68504" y="2198160"/>
            <a:ext cx="6575381" cy="6295928"/>
          </a:xfrm>
          <a:custGeom>
            <a:avLst/>
            <a:gdLst/>
            <a:ahLst/>
            <a:cxnLst/>
            <a:rect r="r" b="b" t="t" l="l"/>
            <a:pathLst>
              <a:path h="6295928" w="6575381">
                <a:moveTo>
                  <a:pt x="0" y="0"/>
                </a:moveTo>
                <a:lnTo>
                  <a:pt x="6575381" y="0"/>
                </a:lnTo>
                <a:lnTo>
                  <a:pt x="6575381" y="6295927"/>
                </a:lnTo>
                <a:lnTo>
                  <a:pt x="0" y="6295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0210" y="1064542"/>
            <a:ext cx="7638987" cy="19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65"/>
              </a:lnSpc>
            </a:pPr>
            <a:r>
              <a:rPr lang="en-US" sz="12325" spc="98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Ask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0210" y="3668314"/>
            <a:ext cx="6510689" cy="455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Financiamiento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: Insta Award de Stellar para sostener el desarrollo del MVP productivo y la coordinación institucional para un piloto real.</a:t>
            </a:r>
          </a:p>
          <a:p>
            <a:pPr algn="just">
              <a:lnSpc>
                <a:spcPts val="2799"/>
              </a:lnSpc>
            </a:pP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Mentores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: con experiencia en govtech, datos abiertos o blockchain en sector público latinoamericano.</a:t>
            </a:r>
          </a:p>
          <a:p>
            <a:pPr algn="just">
              <a:lnSpc>
                <a:spcPts val="2799"/>
              </a:lnSpc>
            </a:pP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Contactos</a:t>
            </a: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: instituciones costarricenses o regionales que quieran ser el piloto. Una municipalidad, un flujo, 90 días.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00210" y="3176135"/>
            <a:ext cx="6304751" cy="52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ESTAMOS EN BÚSQUEDA 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DAHLv9-CG8U</dc:identifier>
  <dcterms:modified xsi:type="dcterms:W3CDTF">2011-08-01T06:04:30Z</dcterms:modified>
  <cp:revision>1</cp:revision>
  <dc:title>Pitch Trackify</dc:title>
</cp:coreProperties>
</file>